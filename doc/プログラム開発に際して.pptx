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61" r:id="rId5"/>
    <p:sldId id="259" r:id="rId6"/>
    <p:sldId id="256" r:id="rId7"/>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626" y="-84"/>
      </p:cViewPr>
      <p:guideLst>
        <p:guide orient="horz" pos="2160"/>
        <p:guide pos="2880"/>
      </p:guideLst>
    </p:cSldViewPr>
  </p:slideViewPr>
  <p:notesTextViewPr>
    <p:cViewPr>
      <p:scale>
        <a:sx n="100" d="100"/>
        <a:sy n="100" d="100"/>
      </p:scale>
      <p:origin x="0" y="0"/>
    </p:cViewPr>
  </p:notesTextViewPr>
  <p:gridSpacing cx="73737788" cy="7373778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30FD252-4488-43CA-BBC4-4DBBDEBAF08D}" type="datetimeFigureOut">
              <a:rPr kumimoji="1" lang="ja-JP" altLang="en-US" smtClean="0"/>
              <a:pPr/>
              <a:t>2018/11/1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46203DD-7633-4560-AC73-61F28C358DCE}"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30FD252-4488-43CA-BBC4-4DBBDEBAF08D}" type="datetimeFigureOut">
              <a:rPr kumimoji="1" lang="ja-JP" altLang="en-US" smtClean="0"/>
              <a:pPr/>
              <a:t>2018/11/1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46203DD-7633-4560-AC73-61F28C358DCE}"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30FD252-4488-43CA-BBC4-4DBBDEBAF08D}" type="datetimeFigureOut">
              <a:rPr kumimoji="1" lang="ja-JP" altLang="en-US" smtClean="0"/>
              <a:pPr/>
              <a:t>2018/11/1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46203DD-7633-4560-AC73-61F28C358DCE}"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30FD252-4488-43CA-BBC4-4DBBDEBAF08D}" type="datetimeFigureOut">
              <a:rPr kumimoji="1" lang="ja-JP" altLang="en-US" smtClean="0"/>
              <a:pPr/>
              <a:t>2018/11/1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46203DD-7633-4560-AC73-61F28C358DCE}"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30FD252-4488-43CA-BBC4-4DBBDEBAF08D}" type="datetimeFigureOut">
              <a:rPr kumimoji="1" lang="ja-JP" altLang="en-US" smtClean="0"/>
              <a:pPr/>
              <a:t>2018/11/1</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046203DD-7633-4560-AC73-61F28C358DCE}"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30FD252-4488-43CA-BBC4-4DBBDEBAF08D}" type="datetimeFigureOut">
              <a:rPr kumimoji="1" lang="ja-JP" altLang="en-US" smtClean="0"/>
              <a:pPr/>
              <a:t>2018/11/1</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046203DD-7633-4560-AC73-61F28C358DCE}"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30FD252-4488-43CA-BBC4-4DBBDEBAF08D}" type="datetimeFigureOut">
              <a:rPr kumimoji="1" lang="ja-JP" altLang="en-US" smtClean="0"/>
              <a:pPr/>
              <a:t>2018/11/1</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046203DD-7633-4560-AC73-61F28C358DCE}"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30FD252-4488-43CA-BBC4-4DBBDEBAF08D}" type="datetimeFigureOut">
              <a:rPr kumimoji="1" lang="ja-JP" altLang="en-US" smtClean="0"/>
              <a:pPr/>
              <a:t>2018/11/1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46203DD-7633-4560-AC73-61F28C358DCE}"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30FD252-4488-43CA-BBC4-4DBBDEBAF08D}" type="datetimeFigureOut">
              <a:rPr kumimoji="1" lang="ja-JP" altLang="en-US" smtClean="0"/>
              <a:pPr/>
              <a:t>2018/11/1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46203DD-7633-4560-AC73-61F28C358DCE}"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30FD252-4488-43CA-BBC4-4DBBDEBAF08D}" type="datetimeFigureOut">
              <a:rPr kumimoji="1" lang="ja-JP" altLang="en-US" smtClean="0"/>
              <a:pPr/>
              <a:t>2018/11/1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46203DD-7633-4560-AC73-61F28C358DCE}"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30FD252-4488-43CA-BBC4-4DBBDEBAF08D}" type="datetimeFigureOut">
              <a:rPr kumimoji="1" lang="ja-JP" altLang="en-US" smtClean="0"/>
              <a:pPr/>
              <a:t>2018/11/1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46203DD-7633-4560-AC73-61F28C358DCE}"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0FD252-4488-43CA-BBC4-4DBBDEBAF08D}" type="datetimeFigureOut">
              <a:rPr kumimoji="1" lang="ja-JP" altLang="en-US" smtClean="0"/>
              <a:pPr/>
              <a:t>2018/11/1</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6203DD-7633-4560-AC73-61F28C358DCE}"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ロボットはどのように動作するのか？</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動き：前後左右＋細かな動きも</a:t>
            </a:r>
            <a:endParaRPr lang="en-US" altLang="ja-JP" dirty="0" smtClean="0"/>
          </a:p>
          <a:p>
            <a:r>
              <a:rPr lang="ja-JP" altLang="en-US" dirty="0" smtClean="0"/>
              <a:t>ロボットが置かれるのは，どんな状況か？</a:t>
            </a:r>
            <a:endParaRPr lang="en-US" altLang="ja-JP" dirty="0" smtClean="0"/>
          </a:p>
          <a:p>
            <a:r>
              <a:rPr lang="ja-JP" altLang="en-US" dirty="0" smtClean="0"/>
              <a:t>その状況はどのように取得されるのか？</a:t>
            </a:r>
            <a:endParaRPr lang="en-US" altLang="ja-JP" dirty="0" smtClean="0"/>
          </a:p>
          <a:p>
            <a:pPr lvl="1"/>
            <a:r>
              <a:rPr lang="ja-JP" altLang="en-US" dirty="0" smtClean="0"/>
              <a:t>センサの種類，配置等</a:t>
            </a:r>
            <a:endParaRPr lang="en-US" altLang="ja-JP" dirty="0" smtClean="0"/>
          </a:p>
          <a:p>
            <a:r>
              <a:rPr kumimoji="1" lang="ja-JP" altLang="en-US" dirty="0" smtClean="0"/>
              <a:t>各状況では，どのように動けば良いのか？</a:t>
            </a:r>
            <a:endParaRPr kumimoji="1" lang="en-US" altLang="ja-JP" dirty="0" smtClean="0"/>
          </a:p>
          <a:p>
            <a:endParaRPr kumimoji="1" lang="ja-JP"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状態と行動の対応表を作る</a:t>
            </a:r>
            <a:endParaRPr kumimoji="1" lang="ja-JP" altLang="en-US" dirty="0"/>
          </a:p>
        </p:txBody>
      </p:sp>
      <p:graphicFrame>
        <p:nvGraphicFramePr>
          <p:cNvPr id="4" name="コンテンツ プレースホルダ 3"/>
          <p:cNvGraphicFramePr>
            <a:graphicFrameLocks noGrp="1"/>
          </p:cNvGraphicFramePr>
          <p:nvPr>
            <p:ph idx="1"/>
          </p:nvPr>
        </p:nvGraphicFramePr>
        <p:xfrm>
          <a:off x="467430" y="1628750"/>
          <a:ext cx="8229600" cy="2966720"/>
        </p:xfrm>
        <a:graphic>
          <a:graphicData uri="http://schemas.openxmlformats.org/drawingml/2006/table">
            <a:tbl>
              <a:tblPr firstRow="1" bandRow="1">
                <a:tableStyleId>{5C22544A-7EE6-4342-B048-85BDC9FD1C3A}</a:tableStyleId>
              </a:tblPr>
              <a:tblGrid>
                <a:gridCol w="1018370"/>
                <a:gridCol w="2880400"/>
                <a:gridCol w="4330830"/>
              </a:tblGrid>
              <a:tr h="370840">
                <a:tc>
                  <a:txBody>
                    <a:bodyPr/>
                    <a:lstStyle/>
                    <a:p>
                      <a:pPr algn="ctr"/>
                      <a:r>
                        <a:rPr kumimoji="1" lang="ja-JP" altLang="en-US" dirty="0" smtClean="0">
                          <a:solidFill>
                            <a:schemeClr val="tx1"/>
                          </a:solidFill>
                        </a:rPr>
                        <a:t>番号</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smtClean="0">
                          <a:solidFill>
                            <a:schemeClr val="tx1"/>
                          </a:solidFill>
                        </a:rPr>
                        <a:t>状態</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smtClean="0">
                          <a:solidFill>
                            <a:schemeClr val="tx1"/>
                          </a:solidFill>
                        </a:rPr>
                        <a:t>行動</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kumimoji="1" lang="ja-JP" altLang="en-US" dirty="0" smtClean="0">
                          <a:solidFill>
                            <a:schemeClr val="tx1"/>
                          </a:solidFill>
                        </a:rPr>
                        <a:t>１</a:t>
                      </a:r>
                      <a:endParaRPr kumimoji="1" lang="en-US" altLang="ja-JP"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smtClean="0">
                          <a:solidFill>
                            <a:schemeClr val="tx1"/>
                          </a:solidFill>
                        </a:rPr>
                        <a:t>正面に壁</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smtClean="0">
                          <a:solidFill>
                            <a:schemeClr val="tx1"/>
                          </a:solidFill>
                        </a:rPr>
                        <a:t>右に旋回９０度</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kumimoji="1" lang="ja-JP" altLang="en-US" dirty="0" smtClean="0">
                          <a:solidFill>
                            <a:schemeClr val="tx1"/>
                          </a:solidFill>
                        </a:rPr>
                        <a:t>２</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kumimoji="1" lang="ja-JP" altLang="en-US" dirty="0" smtClean="0">
                          <a:solidFill>
                            <a:schemeClr val="tx1"/>
                          </a:solidFill>
                        </a:rPr>
                        <a:t>３</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状態の具体的</a:t>
            </a:r>
            <a:r>
              <a:rPr lang="ja-JP" altLang="en-US" dirty="0" smtClean="0"/>
              <a:t>な内容について考える</a:t>
            </a:r>
            <a:endParaRPr kumimoji="1" lang="ja-JP" altLang="en-US" dirty="0"/>
          </a:p>
        </p:txBody>
      </p:sp>
      <p:graphicFrame>
        <p:nvGraphicFramePr>
          <p:cNvPr id="4" name="コンテンツ プレースホルダ 3"/>
          <p:cNvGraphicFramePr>
            <a:graphicFrameLocks noGrp="1"/>
          </p:cNvGraphicFramePr>
          <p:nvPr>
            <p:ph idx="1"/>
          </p:nvPr>
        </p:nvGraphicFramePr>
        <p:xfrm>
          <a:off x="467430" y="1628750"/>
          <a:ext cx="8353160" cy="2966720"/>
        </p:xfrm>
        <a:graphic>
          <a:graphicData uri="http://schemas.openxmlformats.org/drawingml/2006/table">
            <a:tbl>
              <a:tblPr firstRow="1" bandRow="1">
                <a:tableStyleId>{5C22544A-7EE6-4342-B048-85BDC9FD1C3A}</a:tableStyleId>
              </a:tblPr>
              <a:tblGrid>
                <a:gridCol w="864120"/>
                <a:gridCol w="7489040"/>
              </a:tblGrid>
              <a:tr h="370840">
                <a:tc>
                  <a:txBody>
                    <a:bodyPr/>
                    <a:lstStyle/>
                    <a:p>
                      <a:pPr algn="ctr"/>
                      <a:r>
                        <a:rPr kumimoji="1" lang="ja-JP" altLang="en-US" dirty="0" smtClean="0">
                          <a:solidFill>
                            <a:schemeClr val="tx1"/>
                          </a:solidFill>
                        </a:rPr>
                        <a:t>状態</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smtClean="0">
                          <a:solidFill>
                            <a:schemeClr val="tx1"/>
                          </a:solidFill>
                        </a:rPr>
                        <a:t>具体的な内容</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kumimoji="1" lang="ja-JP" altLang="en-US" dirty="0" smtClean="0">
                          <a:solidFill>
                            <a:schemeClr val="tx1"/>
                          </a:solidFill>
                        </a:rPr>
                        <a:t>１</a:t>
                      </a:r>
                      <a:endParaRPr kumimoji="1" lang="en-US" altLang="ja-JP"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smtClean="0">
                          <a:solidFill>
                            <a:schemeClr val="tx1"/>
                          </a:solidFill>
                        </a:rPr>
                        <a:t>＊＊センサーが＊＊である．など</a:t>
                      </a:r>
                      <a:r>
                        <a:rPr kumimoji="1" lang="ja-JP" altLang="en-US" dirty="0" err="1" smtClean="0">
                          <a:solidFill>
                            <a:schemeClr val="tx1"/>
                          </a:solidFill>
                        </a:rPr>
                        <a:t>．．．．</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kumimoji="1" lang="ja-JP" altLang="en-US" dirty="0" smtClean="0">
                          <a:solidFill>
                            <a:schemeClr val="tx1"/>
                          </a:solidFill>
                        </a:rPr>
                        <a:t>２</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kumimoji="1" lang="ja-JP" altLang="en-US" dirty="0" smtClean="0">
                          <a:solidFill>
                            <a:schemeClr val="tx1"/>
                          </a:solidFill>
                        </a:rPr>
                        <a:t>３</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行動の具体的</a:t>
            </a:r>
            <a:r>
              <a:rPr lang="ja-JP" altLang="en-US" dirty="0" smtClean="0"/>
              <a:t>な内容について考える</a:t>
            </a:r>
            <a:endParaRPr kumimoji="1" lang="ja-JP" altLang="en-US" dirty="0"/>
          </a:p>
        </p:txBody>
      </p:sp>
      <p:graphicFrame>
        <p:nvGraphicFramePr>
          <p:cNvPr id="4" name="コンテンツ プレースホルダ 3"/>
          <p:cNvGraphicFramePr>
            <a:graphicFrameLocks noGrp="1"/>
          </p:cNvGraphicFramePr>
          <p:nvPr>
            <p:ph idx="1"/>
          </p:nvPr>
        </p:nvGraphicFramePr>
        <p:xfrm>
          <a:off x="467430" y="1628750"/>
          <a:ext cx="8353160" cy="2966720"/>
        </p:xfrm>
        <a:graphic>
          <a:graphicData uri="http://schemas.openxmlformats.org/drawingml/2006/table">
            <a:tbl>
              <a:tblPr firstRow="1" bandRow="1">
                <a:tableStyleId>{5C22544A-7EE6-4342-B048-85BDC9FD1C3A}</a:tableStyleId>
              </a:tblPr>
              <a:tblGrid>
                <a:gridCol w="1296180"/>
                <a:gridCol w="7056980"/>
              </a:tblGrid>
              <a:tr h="370840">
                <a:tc>
                  <a:txBody>
                    <a:bodyPr/>
                    <a:lstStyle/>
                    <a:p>
                      <a:pPr algn="ctr"/>
                      <a:r>
                        <a:rPr kumimoji="1" lang="ja-JP" altLang="en-US" dirty="0" smtClean="0">
                          <a:solidFill>
                            <a:schemeClr val="tx1"/>
                          </a:solidFill>
                        </a:rPr>
                        <a:t>行動</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smtClean="0">
                          <a:solidFill>
                            <a:schemeClr val="tx1"/>
                          </a:solidFill>
                        </a:rPr>
                        <a:t>具体的な内容</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kumimoji="1" lang="ja-JP" altLang="en-US" dirty="0" smtClean="0">
                          <a:solidFill>
                            <a:schemeClr val="tx1"/>
                          </a:solidFill>
                        </a:rPr>
                        <a:t>１</a:t>
                      </a:r>
                      <a:endParaRPr kumimoji="1" lang="en-US" altLang="ja-JP"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smtClean="0">
                          <a:solidFill>
                            <a:schemeClr val="tx1"/>
                          </a:solidFill>
                        </a:rPr>
                        <a:t>＊＊センサーが＊＊である．など</a:t>
                      </a:r>
                      <a:r>
                        <a:rPr kumimoji="1" lang="ja-JP" altLang="en-US" dirty="0" err="1" smtClean="0">
                          <a:solidFill>
                            <a:schemeClr val="tx1"/>
                          </a:solidFill>
                        </a:rPr>
                        <a:t>．．．．</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kumimoji="1" lang="ja-JP" altLang="en-US" dirty="0" smtClean="0">
                          <a:solidFill>
                            <a:schemeClr val="tx1"/>
                          </a:solidFill>
                        </a:rPr>
                        <a:t>２</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kumimoji="1" lang="ja-JP" altLang="en-US" dirty="0" smtClean="0">
                          <a:solidFill>
                            <a:schemeClr val="tx1"/>
                          </a:solidFill>
                        </a:rPr>
                        <a:t>３</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endParaRPr kumimoji="1" lang="ja-JP"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システム構成を考える</a:t>
            </a:r>
            <a:endParaRPr kumimoji="1" lang="ja-JP" altLang="en-US" dirty="0"/>
          </a:p>
        </p:txBody>
      </p:sp>
      <p:sp>
        <p:nvSpPr>
          <p:cNvPr id="3" name="コンテンツ プレースホルダ 2"/>
          <p:cNvSpPr>
            <a:spLocks noGrp="1"/>
          </p:cNvSpPr>
          <p:nvPr>
            <p:ph idx="1"/>
          </p:nvPr>
        </p:nvSpPr>
        <p:spPr>
          <a:xfrm>
            <a:off x="457200" y="1196690"/>
            <a:ext cx="8229600" cy="5328740"/>
          </a:xfrm>
        </p:spPr>
        <p:txBody>
          <a:bodyPr>
            <a:normAutofit fontScale="70000" lnSpcReduction="20000"/>
          </a:bodyPr>
          <a:lstStyle/>
          <a:p>
            <a:pPr>
              <a:buNone/>
            </a:pPr>
            <a:r>
              <a:rPr kumimoji="1" lang="ja-JP" altLang="en-US" dirty="0" smtClean="0"/>
              <a:t>デバック，改良などの容易さを考えよう．</a:t>
            </a:r>
            <a:endParaRPr kumimoji="1" lang="en-US" altLang="ja-JP" dirty="0" smtClean="0"/>
          </a:p>
          <a:p>
            <a:r>
              <a:rPr kumimoji="1" lang="ja-JP" altLang="en-US" dirty="0" smtClean="0"/>
              <a:t>状態データ：</a:t>
            </a:r>
            <a:endParaRPr kumimoji="1" lang="en-US" altLang="ja-JP" dirty="0" smtClean="0"/>
          </a:p>
          <a:p>
            <a:pPr lvl="1"/>
            <a:r>
              <a:rPr kumimoji="1" lang="ja-JP" altLang="en-US" dirty="0" smtClean="0"/>
              <a:t>データとして管理しない</a:t>
            </a:r>
            <a:r>
              <a:rPr kumimoji="1" lang="en-US" altLang="ja-JP" dirty="0" smtClean="0"/>
              <a:t>/</a:t>
            </a:r>
            <a:r>
              <a:rPr kumimoji="1" lang="ja-JP" altLang="en-US" dirty="0" smtClean="0"/>
              <a:t>管理する</a:t>
            </a:r>
            <a:endParaRPr kumimoji="1" lang="en-US" altLang="ja-JP" dirty="0" smtClean="0"/>
          </a:p>
          <a:p>
            <a:pPr lvl="1"/>
            <a:endParaRPr kumimoji="1" lang="en-US" altLang="ja-JP" dirty="0" smtClean="0"/>
          </a:p>
          <a:p>
            <a:r>
              <a:rPr lang="ja-JP" altLang="en-US" dirty="0" smtClean="0"/>
              <a:t>処理プログラムの作り方と状態の関係</a:t>
            </a:r>
            <a:endParaRPr lang="en-US" altLang="ja-JP" dirty="0" smtClean="0"/>
          </a:p>
          <a:p>
            <a:pPr marL="971550" lvl="1" indent="-514350">
              <a:buFont typeface="+mj-ea"/>
              <a:buAutoNum type="circleNumDbPlain"/>
            </a:pPr>
            <a:r>
              <a:rPr lang="ja-JP" altLang="en-US" dirty="0" smtClean="0"/>
              <a:t>その場その場</a:t>
            </a:r>
            <a:r>
              <a:rPr lang="ja-JP" altLang="en-US" dirty="0" smtClean="0"/>
              <a:t>でセンサーの信号を読み処理を適用する．</a:t>
            </a:r>
            <a:endParaRPr lang="en-US" altLang="ja-JP" dirty="0" smtClean="0"/>
          </a:p>
          <a:p>
            <a:pPr marL="971550" lvl="1" indent="-514350">
              <a:buFont typeface="+mj-ea"/>
              <a:buAutoNum type="circleNumDbPlain"/>
            </a:pPr>
            <a:r>
              <a:rPr lang="ja-JP" altLang="en-US" dirty="0" smtClean="0"/>
              <a:t>センサー</a:t>
            </a:r>
            <a:r>
              <a:rPr lang="ja-JP" altLang="en-US" dirty="0" smtClean="0"/>
              <a:t>の状態を一元管理して（グローバル変数</a:t>
            </a:r>
            <a:r>
              <a:rPr lang="en-US" altLang="ja-JP" dirty="0" smtClean="0"/>
              <a:t>/</a:t>
            </a:r>
            <a:r>
              <a:rPr lang="ja-JP" altLang="en-US" dirty="0" smtClean="0"/>
              <a:t>共有メモリ）</a:t>
            </a:r>
            <a:endParaRPr lang="en-US" altLang="ja-JP" dirty="0" smtClean="0"/>
          </a:p>
          <a:p>
            <a:pPr lvl="2"/>
            <a:r>
              <a:rPr lang="ja-JP" altLang="en-US" dirty="0" smtClean="0"/>
              <a:t>その状態に対して適用する処理を決める．</a:t>
            </a:r>
            <a:endParaRPr lang="en-US" altLang="ja-JP" dirty="0" smtClean="0"/>
          </a:p>
          <a:p>
            <a:pPr lvl="2"/>
            <a:r>
              <a:rPr lang="ja-JP" altLang="en-US" dirty="0" smtClean="0"/>
              <a:t>スレッド</a:t>
            </a:r>
            <a:r>
              <a:rPr lang="en-US" altLang="ja-JP" dirty="0" smtClean="0"/>
              <a:t>/</a:t>
            </a:r>
            <a:r>
              <a:rPr lang="ja-JP" altLang="en-US" dirty="0" smtClean="0"/>
              <a:t>マルチプロセスで各々処理を実行（競合しないように状態にプログラムの進行に関わるデータも設ける）</a:t>
            </a:r>
            <a:endParaRPr lang="en-US" altLang="ja-JP" dirty="0" smtClean="0"/>
          </a:p>
          <a:p>
            <a:pPr lvl="2">
              <a:buNone/>
            </a:pPr>
            <a:endParaRPr lang="en-US" altLang="ja-JP" dirty="0" smtClean="0"/>
          </a:p>
          <a:p>
            <a:r>
              <a:rPr lang="ja-JP" altLang="en-US" dirty="0" smtClean="0"/>
              <a:t>共有</a:t>
            </a:r>
            <a:r>
              <a:rPr lang="ja-JP" altLang="en-US" dirty="0" smtClean="0"/>
              <a:t>メモリを使うメリット</a:t>
            </a:r>
            <a:endParaRPr lang="en-US" altLang="ja-JP" dirty="0" smtClean="0"/>
          </a:p>
          <a:p>
            <a:pPr lvl="1"/>
            <a:r>
              <a:rPr lang="ja-JP" altLang="en-US" dirty="0" smtClean="0"/>
              <a:t>共有メモリは，削除するコマンドを入力するか電源を落さない限り残っています．</a:t>
            </a:r>
            <a:endParaRPr lang="en-US" altLang="ja-JP" dirty="0" smtClean="0"/>
          </a:p>
          <a:p>
            <a:pPr lvl="1"/>
            <a:r>
              <a:rPr lang="ja-JP" altLang="en-US" dirty="0" smtClean="0"/>
              <a:t>また，プログラム実行中に独立したプログラムを作ってアクセスすることも可能です．</a:t>
            </a:r>
            <a:endParaRPr lang="en-US" altLang="ja-JP" dirty="0" smtClean="0"/>
          </a:p>
          <a:p>
            <a:pPr lvl="1"/>
            <a:r>
              <a:rPr lang="ja-JP" altLang="en-US" dirty="0" smtClean="0"/>
              <a:t>そのため，プログラム開発時，テストやデバッグなどの際にも効果を発揮します．</a:t>
            </a:r>
            <a:endParaRPr lang="en-US" altLang="ja-JP" dirty="0" smtClean="0"/>
          </a:p>
          <a:p>
            <a:endParaRPr kumimoji="1" lang="ja-JP"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179390" y="4365130"/>
            <a:ext cx="1728240" cy="5760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smtClean="0"/>
              <a:t>距離センサー</a:t>
            </a:r>
            <a:r>
              <a:rPr kumimoji="1" lang="ja-JP" altLang="en-US" dirty="0" smtClean="0"/>
              <a:t>１読込機能</a:t>
            </a:r>
            <a:endParaRPr kumimoji="1" lang="ja-JP" altLang="en-US" dirty="0"/>
          </a:p>
        </p:txBody>
      </p:sp>
      <p:sp>
        <p:nvSpPr>
          <p:cNvPr id="6" name="正方形/長方形 5"/>
          <p:cNvSpPr/>
          <p:nvPr/>
        </p:nvSpPr>
        <p:spPr>
          <a:xfrm>
            <a:off x="179390" y="5229250"/>
            <a:ext cx="1728240" cy="5760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smtClean="0"/>
              <a:t>距離センサー</a:t>
            </a:r>
            <a:r>
              <a:rPr kumimoji="1" lang="en-US" altLang="ja-JP" dirty="0" smtClean="0"/>
              <a:t>2</a:t>
            </a:r>
            <a:r>
              <a:rPr lang="ja-JP" altLang="en-US" dirty="0" smtClean="0"/>
              <a:t>読込機能</a:t>
            </a:r>
            <a:endParaRPr kumimoji="1" lang="ja-JP" altLang="en-US" dirty="0"/>
          </a:p>
        </p:txBody>
      </p:sp>
      <p:sp>
        <p:nvSpPr>
          <p:cNvPr id="7" name="正方形/長方形 6"/>
          <p:cNvSpPr/>
          <p:nvPr/>
        </p:nvSpPr>
        <p:spPr>
          <a:xfrm>
            <a:off x="6804310" y="4509150"/>
            <a:ext cx="2016280" cy="4320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smtClean="0"/>
              <a:t>モータ</a:t>
            </a:r>
            <a:r>
              <a:rPr kumimoji="1" lang="ja-JP" altLang="en-US" dirty="0" smtClean="0"/>
              <a:t>１制御機能</a:t>
            </a:r>
            <a:endParaRPr kumimoji="1" lang="ja-JP" altLang="en-US" dirty="0"/>
          </a:p>
        </p:txBody>
      </p:sp>
      <p:sp>
        <p:nvSpPr>
          <p:cNvPr id="8" name="正方形/長方形 7"/>
          <p:cNvSpPr/>
          <p:nvPr/>
        </p:nvSpPr>
        <p:spPr>
          <a:xfrm>
            <a:off x="6804310" y="5085230"/>
            <a:ext cx="2016280" cy="4320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smtClean="0"/>
              <a:t>モータ</a:t>
            </a:r>
            <a:r>
              <a:rPr lang="ja-JP" altLang="en-US" dirty="0" smtClean="0"/>
              <a:t>２制御</a:t>
            </a:r>
            <a:r>
              <a:rPr lang="ja-JP" altLang="en-US" dirty="0" smtClean="0"/>
              <a:t>機能</a:t>
            </a:r>
            <a:endParaRPr lang="ja-JP" altLang="en-US" dirty="0" smtClean="0"/>
          </a:p>
        </p:txBody>
      </p:sp>
      <p:cxnSp>
        <p:nvCxnSpPr>
          <p:cNvPr id="11" name="カギ線コネクタ 10"/>
          <p:cNvCxnSpPr>
            <a:stCxn id="5" idx="3"/>
            <a:endCxn id="4" idx="2"/>
          </p:cNvCxnSpPr>
          <p:nvPr/>
        </p:nvCxnSpPr>
        <p:spPr>
          <a:xfrm>
            <a:off x="1907630" y="4653170"/>
            <a:ext cx="432060" cy="504070"/>
          </a:xfrm>
          <a:prstGeom prst="bentConnector3">
            <a:avLst>
              <a:gd name="adj1" fmla="val 50000"/>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直線矢印コネクタ 21"/>
          <p:cNvCxnSpPr>
            <a:stCxn id="6" idx="3"/>
          </p:cNvCxnSpPr>
          <p:nvPr/>
        </p:nvCxnSpPr>
        <p:spPr>
          <a:xfrm flipV="1">
            <a:off x="1907630" y="5445280"/>
            <a:ext cx="432060" cy="7201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円/楕円 22"/>
          <p:cNvSpPr/>
          <p:nvPr/>
        </p:nvSpPr>
        <p:spPr>
          <a:xfrm>
            <a:off x="1043510" y="587734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4" name="円/楕円 23"/>
          <p:cNvSpPr/>
          <p:nvPr/>
        </p:nvSpPr>
        <p:spPr>
          <a:xfrm>
            <a:off x="1043510" y="602974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5" name="円/楕円 24"/>
          <p:cNvSpPr/>
          <p:nvPr/>
        </p:nvSpPr>
        <p:spPr>
          <a:xfrm>
            <a:off x="1043510" y="618214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7" name="円/楕円 26"/>
          <p:cNvSpPr/>
          <p:nvPr/>
        </p:nvSpPr>
        <p:spPr>
          <a:xfrm>
            <a:off x="7596420" y="563617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8" name="円/楕円 27"/>
          <p:cNvSpPr/>
          <p:nvPr/>
        </p:nvSpPr>
        <p:spPr>
          <a:xfrm>
            <a:off x="7596420" y="578857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9" name="円/楕円 28"/>
          <p:cNvSpPr/>
          <p:nvPr/>
        </p:nvSpPr>
        <p:spPr>
          <a:xfrm>
            <a:off x="7596420" y="594097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0" name="円/楕円 29"/>
          <p:cNvSpPr/>
          <p:nvPr/>
        </p:nvSpPr>
        <p:spPr>
          <a:xfrm>
            <a:off x="7596420" y="609337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32" name="直線矢印コネクタ 31"/>
          <p:cNvCxnSpPr/>
          <p:nvPr/>
        </p:nvCxnSpPr>
        <p:spPr>
          <a:xfrm>
            <a:off x="4427980" y="5085230"/>
            <a:ext cx="720100" cy="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直線矢印コネクタ 33"/>
          <p:cNvCxnSpPr/>
          <p:nvPr/>
        </p:nvCxnSpPr>
        <p:spPr>
          <a:xfrm flipH="1">
            <a:off x="4499990" y="5373270"/>
            <a:ext cx="64809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線矢印コネクタ 34"/>
          <p:cNvCxnSpPr>
            <a:endCxn id="7" idx="1"/>
          </p:cNvCxnSpPr>
          <p:nvPr/>
        </p:nvCxnSpPr>
        <p:spPr>
          <a:xfrm>
            <a:off x="6084210" y="4725180"/>
            <a:ext cx="7201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矢印コネクタ 35"/>
          <p:cNvCxnSpPr/>
          <p:nvPr/>
        </p:nvCxnSpPr>
        <p:spPr>
          <a:xfrm>
            <a:off x="6084210" y="5589300"/>
            <a:ext cx="7201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直線矢印コネクタ 38"/>
          <p:cNvCxnSpPr/>
          <p:nvPr/>
        </p:nvCxnSpPr>
        <p:spPr>
          <a:xfrm>
            <a:off x="6084210" y="5733320"/>
            <a:ext cx="7201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カギ線コネクタ 39"/>
          <p:cNvCxnSpPr>
            <a:endCxn id="8" idx="1"/>
          </p:cNvCxnSpPr>
          <p:nvPr/>
        </p:nvCxnSpPr>
        <p:spPr>
          <a:xfrm>
            <a:off x="6084210" y="4869200"/>
            <a:ext cx="720100" cy="432060"/>
          </a:xfrm>
          <a:prstGeom prst="bentConnector3">
            <a:avLst>
              <a:gd name="adj1" fmla="val 50000"/>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5148080" y="4509150"/>
            <a:ext cx="1152160" cy="13681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smtClean="0"/>
              <a:t>制御プログラム</a:t>
            </a:r>
            <a:endParaRPr kumimoji="1" lang="ja-JP" altLang="en-US" dirty="0"/>
          </a:p>
        </p:txBody>
      </p:sp>
      <p:sp>
        <p:nvSpPr>
          <p:cNvPr id="4" name="フローチャート : 磁気ディスク 3"/>
          <p:cNvSpPr/>
          <p:nvPr/>
        </p:nvSpPr>
        <p:spPr>
          <a:xfrm>
            <a:off x="2339690" y="4293120"/>
            <a:ext cx="2160300" cy="1728240"/>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smtClean="0"/>
              <a:t>状態データ</a:t>
            </a:r>
            <a:endParaRPr kumimoji="1" lang="ja-JP" altLang="en-US" dirty="0"/>
          </a:p>
        </p:txBody>
      </p:sp>
      <p:sp>
        <p:nvSpPr>
          <p:cNvPr id="46" name="正方形/長方形 45"/>
          <p:cNvSpPr/>
          <p:nvPr/>
        </p:nvSpPr>
        <p:spPr>
          <a:xfrm>
            <a:off x="2339690" y="188550"/>
            <a:ext cx="4104570" cy="3096430"/>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algn="ctr"/>
            <a:r>
              <a:rPr lang="ja-JP" altLang="en-US" dirty="0" smtClean="0"/>
              <a:t>制御プログラム</a:t>
            </a:r>
            <a:endParaRPr kumimoji="1" lang="ja-JP" altLang="en-US" dirty="0"/>
          </a:p>
        </p:txBody>
      </p:sp>
      <p:grpSp>
        <p:nvGrpSpPr>
          <p:cNvPr id="51" name="グループ化 50"/>
          <p:cNvGrpSpPr/>
          <p:nvPr/>
        </p:nvGrpSpPr>
        <p:grpSpPr>
          <a:xfrm>
            <a:off x="4608005" y="764630"/>
            <a:ext cx="72010" cy="529210"/>
            <a:chOff x="7820830" y="5284500"/>
            <a:chExt cx="72010" cy="529210"/>
          </a:xfrm>
        </p:grpSpPr>
        <p:sp>
          <p:nvSpPr>
            <p:cNvPr id="47" name="円/楕円 46"/>
            <p:cNvSpPr/>
            <p:nvPr/>
          </p:nvSpPr>
          <p:spPr>
            <a:xfrm>
              <a:off x="7820830" y="528450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8" name="円/楕円 47"/>
            <p:cNvSpPr/>
            <p:nvPr/>
          </p:nvSpPr>
          <p:spPr>
            <a:xfrm>
              <a:off x="7820830" y="543690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9" name="円/楕円 48"/>
            <p:cNvSpPr/>
            <p:nvPr/>
          </p:nvSpPr>
          <p:spPr>
            <a:xfrm>
              <a:off x="7820830" y="558930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0" name="円/楕円 49"/>
            <p:cNvSpPr/>
            <p:nvPr/>
          </p:nvSpPr>
          <p:spPr>
            <a:xfrm>
              <a:off x="7820830" y="574170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sp>
        <p:nvSpPr>
          <p:cNvPr id="52" name="正方形/長方形 51"/>
          <p:cNvSpPr/>
          <p:nvPr/>
        </p:nvSpPr>
        <p:spPr>
          <a:xfrm>
            <a:off x="3203810" y="1196690"/>
            <a:ext cx="2880400" cy="3600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smtClean="0"/>
              <a:t>距離センサー</a:t>
            </a:r>
            <a:r>
              <a:rPr kumimoji="1" lang="ja-JP" altLang="en-US" dirty="0" smtClean="0"/>
              <a:t>１読込機能</a:t>
            </a:r>
            <a:endParaRPr kumimoji="1" lang="ja-JP" altLang="en-US" dirty="0"/>
          </a:p>
        </p:txBody>
      </p:sp>
      <p:grpSp>
        <p:nvGrpSpPr>
          <p:cNvPr id="54" name="グループ化 53"/>
          <p:cNvGrpSpPr/>
          <p:nvPr/>
        </p:nvGrpSpPr>
        <p:grpSpPr>
          <a:xfrm>
            <a:off x="4608005" y="1628750"/>
            <a:ext cx="72010" cy="376810"/>
            <a:chOff x="7820830" y="5436900"/>
            <a:chExt cx="72010" cy="376810"/>
          </a:xfrm>
        </p:grpSpPr>
        <p:sp>
          <p:nvSpPr>
            <p:cNvPr id="56" name="円/楕円 55"/>
            <p:cNvSpPr/>
            <p:nvPr/>
          </p:nvSpPr>
          <p:spPr>
            <a:xfrm>
              <a:off x="7820830" y="543690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7" name="円/楕円 56"/>
            <p:cNvSpPr/>
            <p:nvPr/>
          </p:nvSpPr>
          <p:spPr>
            <a:xfrm>
              <a:off x="7820830" y="558930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8" name="円/楕円 57"/>
            <p:cNvSpPr/>
            <p:nvPr/>
          </p:nvSpPr>
          <p:spPr>
            <a:xfrm>
              <a:off x="7820830" y="574170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grpSp>
        <p:nvGrpSpPr>
          <p:cNvPr id="59" name="グループ化 58"/>
          <p:cNvGrpSpPr/>
          <p:nvPr/>
        </p:nvGrpSpPr>
        <p:grpSpPr>
          <a:xfrm>
            <a:off x="4608005" y="2420860"/>
            <a:ext cx="72010" cy="376810"/>
            <a:chOff x="7820830" y="5284500"/>
            <a:chExt cx="72010" cy="376810"/>
          </a:xfrm>
        </p:grpSpPr>
        <p:sp>
          <p:nvSpPr>
            <p:cNvPr id="60" name="円/楕円 59"/>
            <p:cNvSpPr/>
            <p:nvPr/>
          </p:nvSpPr>
          <p:spPr>
            <a:xfrm>
              <a:off x="7820830" y="528450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1" name="円/楕円 60"/>
            <p:cNvSpPr/>
            <p:nvPr/>
          </p:nvSpPr>
          <p:spPr>
            <a:xfrm>
              <a:off x="7820830" y="543690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2" name="円/楕円 61"/>
            <p:cNvSpPr/>
            <p:nvPr/>
          </p:nvSpPr>
          <p:spPr>
            <a:xfrm>
              <a:off x="7820830" y="5589300"/>
              <a:ext cx="72010" cy="720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sp>
        <p:nvSpPr>
          <p:cNvPr id="53" name="正方形/長方形 52"/>
          <p:cNvSpPr/>
          <p:nvPr/>
        </p:nvSpPr>
        <p:spPr>
          <a:xfrm>
            <a:off x="3275820" y="2060810"/>
            <a:ext cx="2736380" cy="2880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smtClean="0"/>
              <a:t>モータ</a:t>
            </a:r>
            <a:r>
              <a:rPr kumimoji="1" lang="ja-JP" altLang="en-US" dirty="0" smtClean="0"/>
              <a:t>１制御機能</a:t>
            </a:r>
            <a:endParaRPr kumimoji="1" lang="ja-JP" altLang="en-US" dirty="0"/>
          </a:p>
        </p:txBody>
      </p:sp>
      <p:sp>
        <p:nvSpPr>
          <p:cNvPr id="64" name="フリーフォーム 63"/>
          <p:cNvSpPr/>
          <p:nvPr/>
        </p:nvSpPr>
        <p:spPr>
          <a:xfrm>
            <a:off x="2743200" y="764931"/>
            <a:ext cx="1890346" cy="2233246"/>
          </a:xfrm>
          <a:custGeom>
            <a:avLst/>
            <a:gdLst>
              <a:gd name="connsiteX0" fmla="*/ 1890346 w 1890346"/>
              <a:gd name="connsiteY0" fmla="*/ 2224454 h 2233246"/>
              <a:gd name="connsiteX1" fmla="*/ 0 w 1890346"/>
              <a:gd name="connsiteY1" fmla="*/ 2233246 h 2233246"/>
              <a:gd name="connsiteX2" fmla="*/ 0 w 1890346"/>
              <a:gd name="connsiteY2" fmla="*/ 8792 h 2233246"/>
              <a:gd name="connsiteX3" fmla="*/ 1758462 w 1890346"/>
              <a:gd name="connsiteY3" fmla="*/ 0 h 2233246"/>
            </a:gdLst>
            <a:ahLst/>
            <a:cxnLst>
              <a:cxn ang="0">
                <a:pos x="connsiteX0" y="connsiteY0"/>
              </a:cxn>
              <a:cxn ang="0">
                <a:pos x="connsiteX1" y="connsiteY1"/>
              </a:cxn>
              <a:cxn ang="0">
                <a:pos x="connsiteX2" y="connsiteY2"/>
              </a:cxn>
              <a:cxn ang="0">
                <a:pos x="connsiteX3" y="connsiteY3"/>
              </a:cxn>
            </a:cxnLst>
            <a:rect l="l" t="t" r="r" b="b"/>
            <a:pathLst>
              <a:path w="1890346" h="2233246">
                <a:moveTo>
                  <a:pt x="1890346" y="2224454"/>
                </a:moveTo>
                <a:lnTo>
                  <a:pt x="0" y="2233246"/>
                </a:lnTo>
                <a:lnTo>
                  <a:pt x="0" y="8792"/>
                </a:lnTo>
                <a:lnTo>
                  <a:pt x="1758462" y="0"/>
                </a:lnTo>
              </a:path>
            </a:pathLst>
          </a:cu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5" name="テキスト ボックス 64"/>
          <p:cNvSpPr txBox="1"/>
          <p:nvPr/>
        </p:nvSpPr>
        <p:spPr>
          <a:xfrm>
            <a:off x="1475570" y="620610"/>
            <a:ext cx="697627" cy="707886"/>
          </a:xfrm>
          <a:prstGeom prst="rect">
            <a:avLst/>
          </a:prstGeom>
          <a:noFill/>
        </p:spPr>
        <p:txBody>
          <a:bodyPr wrap="none" rtlCol="0">
            <a:spAutoFit/>
          </a:bodyPr>
          <a:lstStyle/>
          <a:p>
            <a:r>
              <a:rPr kumimoji="1" lang="ja-JP" altLang="en-US" sz="4000" dirty="0" smtClean="0"/>
              <a:t>①</a:t>
            </a:r>
            <a:endParaRPr kumimoji="1" lang="ja-JP" altLang="en-US" sz="4000" dirty="0"/>
          </a:p>
        </p:txBody>
      </p:sp>
      <p:sp>
        <p:nvSpPr>
          <p:cNvPr id="66" name="テキスト ボックス 65"/>
          <p:cNvSpPr txBox="1"/>
          <p:nvPr/>
        </p:nvSpPr>
        <p:spPr>
          <a:xfrm>
            <a:off x="539440" y="3501010"/>
            <a:ext cx="697627" cy="707886"/>
          </a:xfrm>
          <a:prstGeom prst="rect">
            <a:avLst/>
          </a:prstGeom>
          <a:noFill/>
        </p:spPr>
        <p:txBody>
          <a:bodyPr wrap="none" rtlCol="0">
            <a:spAutoFit/>
          </a:bodyPr>
          <a:lstStyle/>
          <a:p>
            <a:r>
              <a:rPr kumimoji="1" lang="ja-JP" altLang="en-US" sz="4000" dirty="0" smtClean="0"/>
              <a:t>②</a:t>
            </a:r>
            <a:endParaRPr kumimoji="1" lang="ja-JP" altLang="en-US" sz="40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326</Words>
  <Application>Microsoft Office PowerPoint</Application>
  <PresentationFormat>画面に合わせる (4:3)</PresentationFormat>
  <Paragraphs>55</Paragraphs>
  <Slides>6</Slides>
  <Notes>0</Notes>
  <HiddenSlides>0</HiddenSlides>
  <MMClips>0</MMClips>
  <ScaleCrop>false</ScaleCrop>
  <HeadingPairs>
    <vt:vector size="4" baseType="variant">
      <vt:variant>
        <vt:lpstr>テーマ</vt:lpstr>
      </vt:variant>
      <vt:variant>
        <vt:i4>1</vt:i4>
      </vt:variant>
      <vt:variant>
        <vt:lpstr>スライド タイトル</vt:lpstr>
      </vt:variant>
      <vt:variant>
        <vt:i4>6</vt:i4>
      </vt:variant>
    </vt:vector>
  </HeadingPairs>
  <TitlesOfParts>
    <vt:vector size="7" baseType="lpstr">
      <vt:lpstr>Office テーマ</vt:lpstr>
      <vt:lpstr>ロボットはどのように動作するのか？</vt:lpstr>
      <vt:lpstr>状態と行動の対応表を作る</vt:lpstr>
      <vt:lpstr>状態の具体的な内容について考える</vt:lpstr>
      <vt:lpstr>行動の具体的な内容について考える</vt:lpstr>
      <vt:lpstr>システム構成を考える</vt:lpstr>
      <vt:lpstr>スライド 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satake</dc:creator>
  <cp:lastModifiedBy>satake</cp:lastModifiedBy>
  <cp:revision>19</cp:revision>
  <dcterms:created xsi:type="dcterms:W3CDTF">2016-10-13T05:20:37Z</dcterms:created>
  <dcterms:modified xsi:type="dcterms:W3CDTF">2018-11-01T05:40:13Z</dcterms:modified>
</cp:coreProperties>
</file>